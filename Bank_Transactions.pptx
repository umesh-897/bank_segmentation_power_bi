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61" r:id="rId5"/>
    <p:sldId id="262" r:id="rId6"/>
    <p:sldId id="263" r:id="rId7"/>
    <p:sldId id="264" r:id="rId8"/>
    <p:sldId id="270" r:id="rId9"/>
    <p:sldId id="281" r:id="rId10"/>
    <p:sldId id="275" r:id="rId11"/>
    <p:sldId id="280" r:id="rId12"/>
    <p:sldId id="276" r:id="rId13"/>
    <p:sldId id="279" r:id="rId14"/>
    <p:sldId id="277" r:id="rId15"/>
    <p:sldId id="278" r:id="rId16"/>
    <p:sldId id="271" r:id="rId17"/>
    <p:sldId id="273" r:id="rId18"/>
    <p:sldId id="274" r:id="rId19"/>
    <p:sldId id="260" r:id="rId20"/>
    <p:sldId id="259" r:id="rId21"/>
  </p:sldIdLst>
  <p:sldSz cx="12192000" cy="6858000"/>
  <p:notesSz cx="6858000" cy="9144000"/>
  <p:embeddedFontLst>
    <p:embeddedFont>
      <p:font typeface="Lato Black" panose="020F0502020204030203" pitchFamily="34" charset="0"/>
      <p:bold r:id="rId23"/>
      <p:boldItalic r:id="rId24"/>
    </p:embeddedFont>
    <p:embeddedFont>
      <p:font typeface="Libre Baskerville"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umesh-rachann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umesh-897"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0815" cy="6858000"/>
          </a:xfrm>
          <a:prstGeom prst="rect">
            <a:avLst/>
          </a:prstGeom>
          <a:noFill/>
          <a:ln>
            <a:noFill/>
          </a:ln>
        </p:spPr>
      </p:pic>
      <p:sp>
        <p:nvSpPr>
          <p:cNvPr id="99" name="Google Shape;99;p1"/>
          <p:cNvSpPr txBox="1"/>
          <p:nvPr/>
        </p:nvSpPr>
        <p:spPr>
          <a:xfrm>
            <a:off x="2938226" y="3894967"/>
            <a:ext cx="7246189" cy="646290"/>
          </a:xfrm>
          <a:prstGeom prst="rect">
            <a:avLst/>
          </a:prstGeom>
          <a:noFill/>
          <a:ln>
            <a:noFill/>
          </a:ln>
        </p:spPr>
        <p:txBody>
          <a:bodyPr spcFirstLastPara="1" wrap="square" lIns="91425" tIns="45700" rIns="91425" bIns="45700" anchor="t" anchorCtr="0">
            <a:spAutoFit/>
          </a:bodyPr>
          <a:lstStyle/>
          <a:p>
            <a:r>
              <a:rPr lang="en-IN" sz="3600" b="1" dirty="0">
                <a:latin typeface="Calibri" panose="020F0502020204030204" pitchFamily="34" charset="0"/>
                <a:ea typeface="Calibri" panose="020F0502020204030204" pitchFamily="34" charset="0"/>
                <a:cs typeface="Calibri" panose="020F0502020204030204" pitchFamily="34" charset="0"/>
              </a:rPr>
              <a:t>Bank Customer Segmentation</a:t>
            </a:r>
            <a:endParaRPr lang="en-IN" sz="36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AD8ECE98-B56D-4CE8-ADCF-793DCC40A7FD}"/>
              </a:ext>
            </a:extLst>
          </p:cNvPr>
          <p:cNvSpPr txBox="1"/>
          <p:nvPr/>
        </p:nvSpPr>
        <p:spPr>
          <a:xfrm>
            <a:off x="8758384" y="5211029"/>
            <a:ext cx="2852063" cy="1231106"/>
          </a:xfrm>
          <a:prstGeom prst="rect">
            <a:avLst/>
          </a:prstGeom>
          <a:noFill/>
        </p:spPr>
        <p:txBody>
          <a:bodyPr wrap="non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Name : Umesh Rachanna</a:t>
            </a:r>
          </a:p>
          <a:p>
            <a:endParaRPr lang="en-US" sz="2000" dirty="0"/>
          </a:p>
          <a:p>
            <a:r>
              <a:rPr lang="en-US" sz="2000" b="1" dirty="0">
                <a:latin typeface="Calibri" panose="020F0502020204030204" pitchFamily="34" charset="0"/>
                <a:ea typeface="Calibri" panose="020F0502020204030204" pitchFamily="34" charset="0"/>
                <a:cs typeface="Calibri" panose="020F0502020204030204" pitchFamily="34" charset="0"/>
              </a:rPr>
              <a:t>Batch : 514</a:t>
            </a:r>
            <a:endParaRPr lang="en-IN" sz="2000" b="1"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8996123" cy="2677616"/>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solidFill>
                  <a:schemeClr val="dk1"/>
                </a:solidFill>
                <a:latin typeface="Calibri"/>
                <a:ea typeface="Calibri"/>
                <a:cs typeface="Calibri"/>
                <a:sym typeface="Calibri"/>
              </a:rPr>
              <a:t>B-Tech CSE from Aurora’s Technological &amp;Research Institute</a:t>
            </a:r>
            <a:endParaRPr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US" sz="2400" b="1" dirty="0">
                <a:solidFill>
                  <a:schemeClr val="dk1"/>
                </a:solidFill>
                <a:latin typeface="Calibri"/>
                <a:ea typeface="Calibri"/>
                <a:cs typeface="Calibri"/>
                <a:sym typeface="Calibri"/>
              </a:rPr>
              <a:t>I developed an interest in working with data and understanding how insights can help in better decision making. That’s why I choose to learn Data Analytics</a:t>
            </a:r>
            <a:endParaRPr sz="2400" b="1" i="0" u="none" strike="noStrike" cap="none" dirty="0">
              <a:solidFill>
                <a:schemeClr val="dk1"/>
              </a:solidFill>
              <a:latin typeface="Calibri"/>
              <a:ea typeface="Calibri"/>
              <a:cs typeface="Calibri"/>
              <a:sym typeface="Calibri"/>
            </a:endParaRPr>
          </a:p>
          <a:p>
            <a:pPr marL="285750" lvl="0" indent="-323850">
              <a:buClr>
                <a:schemeClr val="dk1"/>
              </a:buClr>
              <a:buSzPts val="2400"/>
              <a:buFont typeface="Arial"/>
              <a:buChar char="•"/>
            </a:pPr>
            <a:r>
              <a:rPr lang="en-IN" sz="2400" b="1" dirty="0">
                <a:solidFill>
                  <a:schemeClr val="dk1"/>
                </a:solidFill>
                <a:latin typeface="Calibri"/>
                <a:ea typeface="Calibri"/>
                <a:cs typeface="Calibri"/>
                <a:sym typeface="Calibri"/>
              </a:rPr>
              <a:t>LinkedIn : </a:t>
            </a:r>
            <a:r>
              <a:rPr lang="en-IN" sz="2400" b="1" dirty="0">
                <a:solidFill>
                  <a:schemeClr val="dk1"/>
                </a:solidFill>
                <a:latin typeface="Calibri"/>
                <a:ea typeface="Calibri"/>
                <a:cs typeface="Calibri"/>
                <a:sym typeface="Calibri"/>
                <a:hlinkClick r:id="rId3"/>
              </a:rPr>
              <a:t>www.linkedin.com/in/umesh-rachanna/</a:t>
            </a:r>
            <a:endParaRPr lang="en-IN" sz="2400" b="1" dirty="0">
              <a:solidFill>
                <a:schemeClr val="dk1"/>
              </a:solidFill>
              <a:latin typeface="Calibri"/>
              <a:ea typeface="Calibri"/>
              <a:cs typeface="Calibri"/>
              <a:sym typeface="Calibri"/>
            </a:endParaRPr>
          </a:p>
          <a:p>
            <a:pPr marL="285750" lvl="0" indent="-323850">
              <a:buClr>
                <a:schemeClr val="dk1"/>
              </a:buClr>
              <a:buSzPts val="2400"/>
              <a:buFont typeface="Arial"/>
              <a:buChar char="•"/>
            </a:pPr>
            <a:r>
              <a:rPr lang="en-IN" sz="2400" b="1" dirty="0">
                <a:solidFill>
                  <a:schemeClr val="dk1"/>
                </a:solidFill>
                <a:latin typeface="Calibri"/>
                <a:ea typeface="Calibri"/>
                <a:cs typeface="Calibri"/>
                <a:sym typeface="Calibri"/>
              </a:rPr>
              <a:t>GitHub : </a:t>
            </a:r>
            <a:r>
              <a:rPr lang="en-IN" sz="2400" b="1" dirty="0">
                <a:solidFill>
                  <a:schemeClr val="dk1"/>
                </a:solidFill>
                <a:latin typeface="Calibri"/>
                <a:ea typeface="Calibri"/>
                <a:cs typeface="Calibri"/>
                <a:sym typeface="Calibri"/>
                <a:hlinkClick r:id="rId4"/>
              </a:rPr>
              <a:t>https://github.com/umesh-897</a:t>
            </a:r>
            <a:endParaRPr lang="en-IN" sz="2400" b="1"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endParaRPr lang="en-IN" sz="2400" b="1"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600" cy="58473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000" b="0" i="0" u="none" strike="noStrike" cap="none" dirty="0">
                <a:solidFill>
                  <a:srgbClr val="FF0000"/>
                </a:solidFill>
                <a:latin typeface="Lato Black"/>
                <a:ea typeface="Lato Black"/>
                <a:cs typeface="Lato Black"/>
                <a:sym typeface="Lato Black"/>
              </a:rPr>
              <a:t>About me</a:t>
            </a:r>
            <a:endParaRPr sz="40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fontScale="92500" lnSpcReduction="20000"/>
          </a:bodyPr>
          <a:lstStyle/>
          <a:p>
            <a:pPr indent="-431800">
              <a:buSzPts val="2400"/>
            </a:pPr>
            <a:r>
              <a:rPr lang="en-US" sz="2400" b="1" dirty="0"/>
              <a:t>Business Problem</a:t>
            </a:r>
          </a:p>
          <a:p>
            <a:pPr indent="-431800">
              <a:buSzPts val="2400"/>
            </a:pPr>
            <a:r>
              <a:rPr lang="en-US" sz="2400" b="1" dirty="0"/>
              <a:t>Problem Statement</a:t>
            </a:r>
          </a:p>
          <a:p>
            <a:pPr indent="-431800">
              <a:buSzPts val="2400"/>
            </a:pPr>
            <a:r>
              <a:rPr lang="en-US" sz="2400" b="1" dirty="0"/>
              <a:t>Introduction</a:t>
            </a:r>
          </a:p>
          <a:p>
            <a:pPr lvl="0" indent="-431800">
              <a:buSzPts val="2400"/>
            </a:pPr>
            <a:r>
              <a:rPr lang="en-US" sz="2400" b="1" dirty="0"/>
              <a:t>Objective of the Project </a:t>
            </a:r>
          </a:p>
          <a:p>
            <a:pPr indent="-431800">
              <a:buSzPts val="2400"/>
            </a:pPr>
            <a:r>
              <a:rPr lang="en-IN" sz="2400" b="1" dirty="0"/>
              <a:t>Bank Customer Segmentation</a:t>
            </a:r>
            <a:r>
              <a:rPr lang="en-US" sz="2400" b="1" dirty="0"/>
              <a:t> – Tables Overview</a:t>
            </a:r>
          </a:p>
          <a:p>
            <a:pPr lvl="0" indent="-431800">
              <a:buSzPts val="2400"/>
            </a:pPr>
            <a:r>
              <a:rPr lang="en-US" sz="2400" b="1" dirty="0"/>
              <a:t>Data Cleaning</a:t>
            </a:r>
          </a:p>
          <a:p>
            <a:pPr lvl="0" indent="-431800">
              <a:buSzPts val="2400"/>
            </a:pPr>
            <a:r>
              <a:rPr lang="en-US" sz="2400" b="1" dirty="0"/>
              <a:t>Dashboard Overview</a:t>
            </a:r>
            <a:endParaRPr lang="en-US" sz="2400" dirty="0"/>
          </a:p>
          <a:p>
            <a:pPr lvl="0" indent="-431800">
              <a:buSzPts val="2400"/>
            </a:pPr>
            <a:r>
              <a:rPr lang="en-US" sz="2400" b="1" dirty="0"/>
              <a:t>Final business insights </a:t>
            </a:r>
          </a:p>
          <a:p>
            <a:pPr lvl="0" indent="-431800">
              <a:buSzPts val="2400"/>
            </a:pPr>
            <a:r>
              <a:rPr lang="en-US" sz="2400" b="1" dirty="0"/>
              <a:t>Business Recommendations</a:t>
            </a:r>
          </a:p>
          <a:p>
            <a:pPr lvl="0" indent="-431800">
              <a:buSzPts val="2400"/>
            </a:pPr>
            <a:r>
              <a:rPr lang="en-US" sz="2400" b="1" dirty="0"/>
              <a:t>Conclusion </a:t>
            </a:r>
          </a:p>
          <a:p>
            <a:pPr lvl="0" indent="-431800">
              <a:buSzPts val="2400"/>
            </a:pPr>
            <a:r>
              <a:rPr lang="en-US" sz="2400" b="1" dirty="0"/>
              <a:t>Q&amp;A </a:t>
            </a:r>
          </a:p>
          <a:p>
            <a:pPr lvl="0" indent="-431800">
              <a:buSzPts val="2400"/>
            </a:pPr>
            <a:r>
              <a:rPr lang="en-US" sz="2400" b="1" dirty="0"/>
              <a:t>Thank You</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4F0D-83A5-43AD-0D7C-1F64ACE5870C}"/>
              </a:ext>
            </a:extLst>
          </p:cNvPr>
          <p:cNvSpPr>
            <a:spLocks noGrp="1"/>
          </p:cNvSpPr>
          <p:nvPr>
            <p:ph type="title"/>
          </p:nvPr>
        </p:nvSpPr>
        <p:spPr/>
        <p:txBody>
          <a:bodyPr/>
          <a:lstStyle/>
          <a:p>
            <a:r>
              <a:rPr lang="en-US" b="1" dirty="0">
                <a:solidFill>
                  <a:srgbClr val="FF0000"/>
                </a:solidFill>
              </a:rPr>
              <a:t>Business Problem</a:t>
            </a:r>
            <a:endParaRPr lang="en-IN" dirty="0"/>
          </a:p>
        </p:txBody>
      </p:sp>
      <p:sp>
        <p:nvSpPr>
          <p:cNvPr id="3" name="Text Placeholder 2">
            <a:extLst>
              <a:ext uri="{FF2B5EF4-FFF2-40B4-BE49-F238E27FC236}">
                <a16:creationId xmlns:a16="http://schemas.microsoft.com/office/drawing/2014/main" id="{B1635B85-50C5-23B0-2A59-E0DB96DA7A1B}"/>
              </a:ext>
            </a:extLst>
          </p:cNvPr>
          <p:cNvSpPr>
            <a:spLocks noGrp="1"/>
          </p:cNvSpPr>
          <p:nvPr>
            <p:ph type="body" idx="1"/>
          </p:nvPr>
        </p:nvSpPr>
        <p:spPr/>
        <p:txBody>
          <a:bodyPr>
            <a:normAutofit/>
          </a:bodyPr>
          <a:lstStyle/>
          <a:p>
            <a:r>
              <a:rPr lang="en-IN" sz="2400" dirty="0"/>
              <a:t>Banks collect a large amount of customer and transaction data every day through deposits, withdrawals, online banking, ATM usage, and digital payments. However, collecting data alone is not enough. Without proper analysis, it is difficult to identify valuable customers, understand customer spending patterns, and detect potential financial risks.</a:t>
            </a:r>
          </a:p>
          <a:p>
            <a:r>
              <a:rPr lang="en-IN" sz="2400" dirty="0"/>
              <a:t>As the number of customers increases, manual analysis becomes inefficient and time-consuming. By using a data-driven approach, banks can turn raw data into meaningful insights, helping them improve customer retention, personalize services, optimize marketing strategies, and make better business decisions.</a:t>
            </a:r>
          </a:p>
        </p:txBody>
      </p:sp>
    </p:spTree>
    <p:extLst>
      <p:ext uri="{BB962C8B-B14F-4D97-AF65-F5344CB8AC3E}">
        <p14:creationId xmlns:p14="http://schemas.microsoft.com/office/powerpoint/2010/main" val="3360427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C252C-C708-7B90-9458-A9640861400D}"/>
              </a:ext>
            </a:extLst>
          </p:cNvPr>
          <p:cNvSpPr>
            <a:spLocks noGrp="1"/>
          </p:cNvSpPr>
          <p:nvPr>
            <p:ph type="title"/>
          </p:nvPr>
        </p:nvSpPr>
        <p:spPr/>
        <p:txBody>
          <a:bodyPr/>
          <a:lstStyle/>
          <a:p>
            <a:r>
              <a:rPr lang="en-US" b="1" dirty="0">
                <a:solidFill>
                  <a:srgbClr val="FF0000"/>
                </a:solidFill>
              </a:rPr>
              <a:t>Problem Statement</a:t>
            </a:r>
            <a:endParaRPr lang="en-IN" dirty="0"/>
          </a:p>
        </p:txBody>
      </p:sp>
      <p:sp>
        <p:nvSpPr>
          <p:cNvPr id="3" name="Text Placeholder 2">
            <a:extLst>
              <a:ext uri="{FF2B5EF4-FFF2-40B4-BE49-F238E27FC236}">
                <a16:creationId xmlns:a16="http://schemas.microsoft.com/office/drawing/2014/main" id="{72E3E501-5A7D-0F9E-234A-7655177DF735}"/>
              </a:ext>
            </a:extLst>
          </p:cNvPr>
          <p:cNvSpPr>
            <a:spLocks noGrp="1"/>
          </p:cNvSpPr>
          <p:nvPr>
            <p:ph type="body" idx="1"/>
          </p:nvPr>
        </p:nvSpPr>
        <p:spPr/>
        <p:txBody>
          <a:bodyPr>
            <a:normAutofit/>
          </a:bodyPr>
          <a:lstStyle/>
          <a:p>
            <a:r>
              <a:rPr lang="en-IN" sz="2400" dirty="0"/>
              <a:t>The primary challenge is to analyse customer demographic and transaction data to understand customer behaviour and identify different customer segments based on their value and activity.</a:t>
            </a:r>
          </a:p>
          <a:p>
            <a:pPr marL="114300" indent="0">
              <a:buNone/>
            </a:pPr>
            <a:r>
              <a:rPr lang="en-IN" sz="2400" dirty="0"/>
              <a:t>This project aims to answer key business questions such as:</a:t>
            </a:r>
          </a:p>
          <a:p>
            <a:r>
              <a:rPr lang="en-IN" sz="2400" dirty="0"/>
              <a:t>Who are the bank's most valuable (loyal) customers? </a:t>
            </a:r>
          </a:p>
          <a:p>
            <a:r>
              <a:rPr lang="en-IN" sz="2400" dirty="0"/>
              <a:t>Which customers are at risk of becoming inactive? </a:t>
            </a:r>
          </a:p>
          <a:p>
            <a:r>
              <a:rPr lang="en-IN" sz="2400" dirty="0"/>
              <a:t>Which customer segments generate the highest revenue? </a:t>
            </a:r>
          </a:p>
          <a:p>
            <a:r>
              <a:rPr lang="en-IN" sz="2400" dirty="0"/>
              <a:t>How do customer demographics influence transaction behaviour? </a:t>
            </a:r>
          </a:p>
          <a:p>
            <a:r>
              <a:rPr lang="en-IN" sz="2400" dirty="0"/>
              <a:t>Which customers require additional risk monitoring? </a:t>
            </a:r>
          </a:p>
        </p:txBody>
      </p:sp>
    </p:spTree>
    <p:extLst>
      <p:ext uri="{BB962C8B-B14F-4D97-AF65-F5344CB8AC3E}">
        <p14:creationId xmlns:p14="http://schemas.microsoft.com/office/powerpoint/2010/main" val="74819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C9F0-4589-AD1C-73F7-C12377B13188}"/>
              </a:ext>
            </a:extLst>
          </p:cNvPr>
          <p:cNvSpPr>
            <a:spLocks noGrp="1"/>
          </p:cNvSpPr>
          <p:nvPr>
            <p:ph type="title"/>
          </p:nvPr>
        </p:nvSpPr>
        <p:spPr/>
        <p:txBody>
          <a:bodyPr/>
          <a:lstStyle/>
          <a:p>
            <a:r>
              <a:rPr lang="en-US" b="1" dirty="0">
                <a:solidFill>
                  <a:srgbClr val="FF0000"/>
                </a:solidFill>
              </a:rPr>
              <a:t>Introduction</a:t>
            </a:r>
            <a:endParaRPr lang="en-IN" dirty="0"/>
          </a:p>
        </p:txBody>
      </p:sp>
      <p:sp>
        <p:nvSpPr>
          <p:cNvPr id="3" name="Text Placeholder 2">
            <a:extLst>
              <a:ext uri="{FF2B5EF4-FFF2-40B4-BE49-F238E27FC236}">
                <a16:creationId xmlns:a16="http://schemas.microsoft.com/office/drawing/2014/main" id="{B602EB9C-D2D2-AAF7-800C-C72E46F7BE40}"/>
              </a:ext>
            </a:extLst>
          </p:cNvPr>
          <p:cNvSpPr>
            <a:spLocks noGrp="1"/>
          </p:cNvSpPr>
          <p:nvPr>
            <p:ph type="body" idx="1"/>
          </p:nvPr>
        </p:nvSpPr>
        <p:spPr/>
        <p:txBody>
          <a:bodyPr>
            <a:normAutofit/>
          </a:bodyPr>
          <a:lstStyle/>
          <a:p>
            <a:r>
              <a:rPr lang="en-IN" sz="2400" dirty="0"/>
              <a:t>Customer segmentation is an important technique used by banks to group customers based on characteristics such as age, account balance, transaction behaviour, and spending patterns.</a:t>
            </a:r>
          </a:p>
          <a:p>
            <a:r>
              <a:rPr lang="en-IN" sz="2400" dirty="0"/>
              <a:t>In this project, Power BI is used to analyse a bank customer dataset by cleaning, transforming, and visualizing the data. Interactive dashboards provide insights into customer demographics, transaction behaviour, customer segments, profitability and risk factors. The dashboard includes KPIs, charts, tables, and slicers that help users explore the data easily and support better business decisions.</a:t>
            </a:r>
          </a:p>
        </p:txBody>
      </p:sp>
    </p:spTree>
    <p:extLst>
      <p:ext uri="{BB962C8B-B14F-4D97-AF65-F5344CB8AC3E}">
        <p14:creationId xmlns:p14="http://schemas.microsoft.com/office/powerpoint/2010/main" val="3406665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1A69-2965-7BF8-F83C-FC929C96D011}"/>
              </a:ext>
            </a:extLst>
          </p:cNvPr>
          <p:cNvSpPr>
            <a:spLocks noGrp="1"/>
          </p:cNvSpPr>
          <p:nvPr>
            <p:ph type="title"/>
          </p:nvPr>
        </p:nvSpPr>
        <p:spPr/>
        <p:txBody>
          <a:bodyPr/>
          <a:lstStyle/>
          <a:p>
            <a:r>
              <a:rPr lang="en-IN" b="1" dirty="0">
                <a:solidFill>
                  <a:srgbClr val="FF0000"/>
                </a:solidFill>
              </a:rPr>
              <a:t>Objective</a:t>
            </a:r>
            <a:endParaRPr lang="en-IN" dirty="0"/>
          </a:p>
        </p:txBody>
      </p:sp>
      <p:sp>
        <p:nvSpPr>
          <p:cNvPr id="3" name="Text Placeholder 2">
            <a:extLst>
              <a:ext uri="{FF2B5EF4-FFF2-40B4-BE49-F238E27FC236}">
                <a16:creationId xmlns:a16="http://schemas.microsoft.com/office/drawing/2014/main" id="{5C4D08CC-B222-ABF3-FC24-ADE58C924111}"/>
              </a:ext>
            </a:extLst>
          </p:cNvPr>
          <p:cNvSpPr>
            <a:spLocks noGrp="1"/>
          </p:cNvSpPr>
          <p:nvPr>
            <p:ph type="body" idx="1"/>
          </p:nvPr>
        </p:nvSpPr>
        <p:spPr/>
        <p:txBody>
          <a:bodyPr/>
          <a:lstStyle/>
          <a:p>
            <a:pPr>
              <a:buSzPct val="100000"/>
              <a:defRPr sz="2200">
                <a:solidFill>
                  <a:srgbClr val="1F2937"/>
                </a:solidFill>
              </a:defRPr>
            </a:pPr>
            <a:r>
              <a:rPr lang="en-US" dirty="0"/>
              <a:t>Understand customer demographics.</a:t>
            </a:r>
          </a:p>
          <a:p>
            <a:pPr>
              <a:buSzPct val="100000"/>
              <a:defRPr sz="2200">
                <a:solidFill>
                  <a:srgbClr val="1F2937"/>
                </a:solidFill>
              </a:defRPr>
            </a:pPr>
            <a:r>
              <a:rPr lang="en-US" dirty="0"/>
              <a:t>Analyze transaction trends.</a:t>
            </a:r>
          </a:p>
          <a:p>
            <a:pPr>
              <a:buSzPct val="100000"/>
              <a:defRPr sz="2200">
                <a:solidFill>
                  <a:srgbClr val="1F2937"/>
                </a:solidFill>
              </a:defRPr>
            </a:pPr>
            <a:r>
              <a:rPr lang="en-US" dirty="0"/>
              <a:t>Perform customer segmentation.</a:t>
            </a:r>
          </a:p>
          <a:p>
            <a:pPr>
              <a:buSzPct val="100000"/>
              <a:defRPr sz="2200">
                <a:solidFill>
                  <a:srgbClr val="1F2937"/>
                </a:solidFill>
              </a:defRPr>
            </a:pPr>
            <a:r>
              <a:rPr lang="en-US" dirty="0"/>
              <a:t>Identify high-value and high-risk customers.</a:t>
            </a:r>
          </a:p>
          <a:p>
            <a:pPr>
              <a:buSzPct val="100000"/>
              <a:defRPr sz="2200">
                <a:solidFill>
                  <a:srgbClr val="1F2937"/>
                </a:solidFill>
              </a:defRPr>
            </a:pPr>
            <a:r>
              <a:rPr lang="en-US" dirty="0"/>
              <a:t>Support business decision-making.</a:t>
            </a:r>
          </a:p>
          <a:p>
            <a:pPr marL="114300" indent="0">
              <a:buSzPct val="100000"/>
              <a:buNone/>
            </a:pPr>
            <a:endParaRPr lang="en-IN" dirty="0"/>
          </a:p>
        </p:txBody>
      </p:sp>
    </p:spTree>
    <p:extLst>
      <p:ext uri="{BB962C8B-B14F-4D97-AF65-F5344CB8AC3E}">
        <p14:creationId xmlns:p14="http://schemas.microsoft.com/office/powerpoint/2010/main" val="378863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450BA-0568-1BEE-C30B-F92ADD0EC290}"/>
              </a:ext>
            </a:extLst>
          </p:cNvPr>
          <p:cNvSpPr>
            <a:spLocks noGrp="1"/>
          </p:cNvSpPr>
          <p:nvPr>
            <p:ph type="title"/>
          </p:nvPr>
        </p:nvSpPr>
        <p:spPr/>
        <p:txBody>
          <a:bodyPr/>
          <a:lstStyle/>
          <a:p>
            <a:r>
              <a:rPr lang="en-US" b="1" dirty="0">
                <a:solidFill>
                  <a:srgbClr val="FF0000"/>
                </a:solidFill>
              </a:rPr>
              <a:t>Table Overview</a:t>
            </a:r>
            <a:endParaRPr lang="en-IN" dirty="0"/>
          </a:p>
        </p:txBody>
      </p:sp>
      <p:pic>
        <p:nvPicPr>
          <p:cNvPr id="4" name="Picture 3">
            <a:extLst>
              <a:ext uri="{FF2B5EF4-FFF2-40B4-BE49-F238E27FC236}">
                <a16:creationId xmlns:a16="http://schemas.microsoft.com/office/drawing/2014/main" id="{72CBE37E-9B73-55EB-D093-F7DCEA04A208}"/>
              </a:ext>
            </a:extLst>
          </p:cNvPr>
          <p:cNvPicPr>
            <a:picLocks noChangeAspect="1"/>
          </p:cNvPicPr>
          <p:nvPr/>
        </p:nvPicPr>
        <p:blipFill>
          <a:blip r:embed="rId2"/>
          <a:stretch>
            <a:fillRect/>
          </a:stretch>
        </p:blipFill>
        <p:spPr>
          <a:xfrm>
            <a:off x="914400" y="1700520"/>
            <a:ext cx="10439400" cy="4583347"/>
          </a:xfrm>
          <a:prstGeom prst="rect">
            <a:avLst/>
          </a:prstGeom>
        </p:spPr>
      </p:pic>
    </p:spTree>
    <p:extLst>
      <p:ext uri="{BB962C8B-B14F-4D97-AF65-F5344CB8AC3E}">
        <p14:creationId xmlns:p14="http://schemas.microsoft.com/office/powerpoint/2010/main" val="165811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DD6E71-D174-EBE1-DB7C-AEB834692547}"/>
              </a:ext>
            </a:extLst>
          </p:cNvPr>
          <p:cNvPicPr>
            <a:picLocks noChangeAspect="1"/>
          </p:cNvPicPr>
          <p:nvPr/>
        </p:nvPicPr>
        <p:blipFill>
          <a:blip r:embed="rId2"/>
          <a:stretch>
            <a:fillRect/>
          </a:stretch>
        </p:blipFill>
        <p:spPr>
          <a:xfrm>
            <a:off x="924232" y="1325562"/>
            <a:ext cx="9724103" cy="4475469"/>
          </a:xfrm>
          <a:prstGeom prst="rect">
            <a:avLst/>
          </a:prstGeom>
        </p:spPr>
      </p:pic>
      <p:sp>
        <p:nvSpPr>
          <p:cNvPr id="2" name="Title 1">
            <a:extLst>
              <a:ext uri="{FF2B5EF4-FFF2-40B4-BE49-F238E27FC236}">
                <a16:creationId xmlns:a16="http://schemas.microsoft.com/office/drawing/2014/main" id="{C4604CD9-83F6-82A7-567C-79DDB999AA24}"/>
              </a:ext>
            </a:extLst>
          </p:cNvPr>
          <p:cNvSpPr>
            <a:spLocks noGrp="1"/>
          </p:cNvSpPr>
          <p:nvPr>
            <p:ph type="title"/>
          </p:nvPr>
        </p:nvSpPr>
        <p:spPr>
          <a:xfrm>
            <a:off x="752168" y="0"/>
            <a:ext cx="10515600" cy="1325563"/>
          </a:xfrm>
        </p:spPr>
        <p:txBody>
          <a:bodyPr/>
          <a:lstStyle/>
          <a:p>
            <a:r>
              <a:rPr lang="en-US" b="1" dirty="0">
                <a:solidFill>
                  <a:srgbClr val="FF0000"/>
                </a:solidFill>
              </a:rPr>
              <a:t>Column Description</a:t>
            </a:r>
            <a:endParaRPr lang="en-IN" b="1" dirty="0">
              <a:solidFill>
                <a:srgbClr val="FF0000"/>
              </a:solidFill>
            </a:endParaRPr>
          </a:p>
        </p:txBody>
      </p:sp>
    </p:spTree>
    <p:extLst>
      <p:ext uri="{BB962C8B-B14F-4D97-AF65-F5344CB8AC3E}">
        <p14:creationId xmlns:p14="http://schemas.microsoft.com/office/powerpoint/2010/main" val="2318959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8A640-35ED-DA5A-59EA-1C01F3867830}"/>
              </a:ext>
            </a:extLst>
          </p:cNvPr>
          <p:cNvSpPr>
            <a:spLocks noGrp="1"/>
          </p:cNvSpPr>
          <p:nvPr>
            <p:ph type="title"/>
          </p:nvPr>
        </p:nvSpPr>
        <p:spPr/>
        <p:txBody>
          <a:bodyPr/>
          <a:lstStyle/>
          <a:p>
            <a:r>
              <a:rPr lang="en-US" b="1" dirty="0">
                <a:solidFill>
                  <a:srgbClr val="FF0000"/>
                </a:solidFill>
              </a:rPr>
              <a:t>Data Cleaning</a:t>
            </a:r>
            <a:endParaRPr lang="en-IN" dirty="0">
              <a:solidFill>
                <a:srgbClr val="FF0000"/>
              </a:solidFill>
            </a:endParaRPr>
          </a:p>
        </p:txBody>
      </p:sp>
      <p:sp>
        <p:nvSpPr>
          <p:cNvPr id="3" name="Text Placeholder 2">
            <a:extLst>
              <a:ext uri="{FF2B5EF4-FFF2-40B4-BE49-F238E27FC236}">
                <a16:creationId xmlns:a16="http://schemas.microsoft.com/office/drawing/2014/main" id="{8C00FA80-909E-339D-72AE-5A2D8C51CCE1}"/>
              </a:ext>
            </a:extLst>
          </p:cNvPr>
          <p:cNvSpPr>
            <a:spLocks noGrp="1"/>
          </p:cNvSpPr>
          <p:nvPr>
            <p:ph type="body" idx="1"/>
          </p:nvPr>
        </p:nvSpPr>
        <p:spPr/>
        <p:txBody>
          <a:bodyPr/>
          <a:lstStyle/>
          <a:p>
            <a:pPr>
              <a:buSzPct val="100000"/>
              <a:defRPr sz="2200">
                <a:solidFill>
                  <a:srgbClr val="1F2937"/>
                </a:solidFill>
              </a:defRPr>
            </a:pPr>
            <a:r>
              <a:rPr lang="en-US" dirty="0"/>
              <a:t>Handled missing and duplicate records.</a:t>
            </a:r>
          </a:p>
          <a:p>
            <a:pPr>
              <a:buSzPct val="100000"/>
              <a:defRPr sz="2200">
                <a:solidFill>
                  <a:srgbClr val="1F2937"/>
                </a:solidFill>
              </a:defRPr>
            </a:pPr>
            <a:r>
              <a:rPr lang="en-US" dirty="0"/>
              <a:t>Converted data types (dates, numbers, time).</a:t>
            </a:r>
          </a:p>
          <a:p>
            <a:pPr>
              <a:buSzPct val="100000"/>
              <a:defRPr sz="2200">
                <a:solidFill>
                  <a:srgbClr val="1F2937"/>
                </a:solidFill>
              </a:defRPr>
            </a:pPr>
            <a:r>
              <a:rPr lang="en-US" dirty="0"/>
              <a:t>Created Age and Age Group columns.</a:t>
            </a:r>
          </a:p>
          <a:p>
            <a:pPr>
              <a:buSzPct val="100000"/>
              <a:defRPr sz="2200">
                <a:solidFill>
                  <a:srgbClr val="1F2937"/>
                </a:solidFill>
              </a:defRPr>
            </a:pPr>
            <a:r>
              <a:rPr lang="en-US" dirty="0"/>
              <a:t>Validated transaction amounts and balances.</a:t>
            </a:r>
          </a:p>
          <a:p>
            <a:pPr>
              <a:buSzPct val="100000"/>
              <a:defRPr sz="2200">
                <a:solidFill>
                  <a:srgbClr val="1F2937"/>
                </a:solidFill>
              </a:defRPr>
            </a:pPr>
            <a:r>
              <a:rPr lang="en-US" dirty="0"/>
              <a:t>Built calculated columns and DAX measures.</a:t>
            </a:r>
            <a:endParaRPr lang="en-IN" dirty="0"/>
          </a:p>
        </p:txBody>
      </p:sp>
    </p:spTree>
    <p:extLst>
      <p:ext uri="{BB962C8B-B14F-4D97-AF65-F5344CB8AC3E}">
        <p14:creationId xmlns:p14="http://schemas.microsoft.com/office/powerpoint/2010/main" val="2762153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677C01-01F5-841F-8859-62A5B99ACA33}"/>
              </a:ext>
            </a:extLst>
          </p:cNvPr>
          <p:cNvPicPr>
            <a:picLocks noChangeAspect="1"/>
          </p:cNvPicPr>
          <p:nvPr/>
        </p:nvPicPr>
        <p:blipFill>
          <a:blip r:embed="rId2"/>
          <a:stretch>
            <a:fillRect/>
          </a:stretch>
        </p:blipFill>
        <p:spPr>
          <a:xfrm>
            <a:off x="0" y="668594"/>
            <a:ext cx="12211462" cy="6189406"/>
          </a:xfrm>
          <a:prstGeom prst="rect">
            <a:avLst/>
          </a:prstGeom>
        </p:spPr>
      </p:pic>
      <p:sp>
        <p:nvSpPr>
          <p:cNvPr id="2" name="Title 1">
            <a:extLst>
              <a:ext uri="{FF2B5EF4-FFF2-40B4-BE49-F238E27FC236}">
                <a16:creationId xmlns:a16="http://schemas.microsoft.com/office/drawing/2014/main" id="{2E5FB417-7664-7E74-F235-51570CFE11CD}"/>
              </a:ext>
            </a:extLst>
          </p:cNvPr>
          <p:cNvSpPr>
            <a:spLocks noGrp="1"/>
          </p:cNvSpPr>
          <p:nvPr>
            <p:ph type="title"/>
          </p:nvPr>
        </p:nvSpPr>
        <p:spPr>
          <a:xfrm>
            <a:off x="847931" y="25477"/>
            <a:ext cx="10515600" cy="662782"/>
          </a:xfrm>
        </p:spPr>
        <p:txBody>
          <a:bodyPr>
            <a:normAutofit fontScale="90000"/>
          </a:bodyPr>
          <a:lstStyle/>
          <a:p>
            <a:r>
              <a:rPr lang="en-US" dirty="0">
                <a:solidFill>
                  <a:srgbClr val="FF0000"/>
                </a:solidFill>
              </a:rPr>
              <a:t>Dashboard Overview</a:t>
            </a:r>
            <a:endParaRPr lang="en-IN" dirty="0">
              <a:solidFill>
                <a:srgbClr val="FF0000"/>
              </a:solidFill>
            </a:endParaRPr>
          </a:p>
        </p:txBody>
      </p:sp>
    </p:spTree>
    <p:extLst>
      <p:ext uri="{BB962C8B-B14F-4D97-AF65-F5344CB8AC3E}">
        <p14:creationId xmlns:p14="http://schemas.microsoft.com/office/powerpoint/2010/main" val="1148030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6A03FD-0CAC-3230-7D97-2DA39D134547}"/>
              </a:ext>
            </a:extLst>
          </p:cNvPr>
          <p:cNvPicPr>
            <a:picLocks noChangeAspect="1"/>
          </p:cNvPicPr>
          <p:nvPr/>
        </p:nvPicPr>
        <p:blipFill>
          <a:blip r:embed="rId2"/>
          <a:stretch>
            <a:fillRect/>
          </a:stretch>
        </p:blipFill>
        <p:spPr>
          <a:xfrm>
            <a:off x="0" y="0"/>
            <a:ext cx="12192000" cy="6184489"/>
          </a:xfrm>
          <a:prstGeom prst="rect">
            <a:avLst/>
          </a:prstGeom>
        </p:spPr>
      </p:pic>
    </p:spTree>
    <p:extLst>
      <p:ext uri="{BB962C8B-B14F-4D97-AF65-F5344CB8AC3E}">
        <p14:creationId xmlns:p14="http://schemas.microsoft.com/office/powerpoint/2010/main" val="2179596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8E1BB4-0478-5669-E19C-05AEAC4063E0}"/>
              </a:ext>
            </a:extLst>
          </p:cNvPr>
          <p:cNvPicPr>
            <a:picLocks noChangeAspect="1"/>
          </p:cNvPicPr>
          <p:nvPr/>
        </p:nvPicPr>
        <p:blipFill>
          <a:blip r:embed="rId2"/>
          <a:stretch>
            <a:fillRect/>
          </a:stretch>
        </p:blipFill>
        <p:spPr>
          <a:xfrm>
            <a:off x="0" y="0"/>
            <a:ext cx="12192000" cy="6164826"/>
          </a:xfrm>
          <a:prstGeom prst="rect">
            <a:avLst/>
          </a:prstGeom>
        </p:spPr>
      </p:pic>
    </p:spTree>
    <p:extLst>
      <p:ext uri="{BB962C8B-B14F-4D97-AF65-F5344CB8AC3E}">
        <p14:creationId xmlns:p14="http://schemas.microsoft.com/office/powerpoint/2010/main" val="2109269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79A1B7-8A1B-8968-412D-0F03F61AB1D5}"/>
              </a:ext>
            </a:extLst>
          </p:cNvPr>
          <p:cNvPicPr>
            <a:picLocks noChangeAspect="1"/>
          </p:cNvPicPr>
          <p:nvPr/>
        </p:nvPicPr>
        <p:blipFill>
          <a:blip r:embed="rId2"/>
          <a:stretch>
            <a:fillRect/>
          </a:stretch>
        </p:blipFill>
        <p:spPr>
          <a:xfrm>
            <a:off x="0" y="0"/>
            <a:ext cx="12191999" cy="6154993"/>
          </a:xfrm>
          <a:prstGeom prst="rect">
            <a:avLst/>
          </a:prstGeom>
        </p:spPr>
      </p:pic>
    </p:spTree>
    <p:extLst>
      <p:ext uri="{BB962C8B-B14F-4D97-AF65-F5344CB8AC3E}">
        <p14:creationId xmlns:p14="http://schemas.microsoft.com/office/powerpoint/2010/main" val="2841354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8F7311-8640-4C17-BBCD-B77220BA0AF6}"/>
              </a:ext>
            </a:extLst>
          </p:cNvPr>
          <p:cNvPicPr>
            <a:picLocks noChangeAspect="1"/>
          </p:cNvPicPr>
          <p:nvPr/>
        </p:nvPicPr>
        <p:blipFill>
          <a:blip r:embed="rId2"/>
          <a:stretch>
            <a:fillRect/>
          </a:stretch>
        </p:blipFill>
        <p:spPr>
          <a:xfrm>
            <a:off x="0" y="0"/>
            <a:ext cx="12192000" cy="6233652"/>
          </a:xfrm>
          <a:prstGeom prst="rect">
            <a:avLst/>
          </a:prstGeom>
        </p:spPr>
      </p:pic>
    </p:spTree>
    <p:extLst>
      <p:ext uri="{BB962C8B-B14F-4D97-AF65-F5344CB8AC3E}">
        <p14:creationId xmlns:p14="http://schemas.microsoft.com/office/powerpoint/2010/main" val="21648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4B9B9-219A-DB8E-AEA8-361B94543E14}"/>
              </a:ext>
            </a:extLst>
          </p:cNvPr>
          <p:cNvSpPr>
            <a:spLocks noGrp="1"/>
          </p:cNvSpPr>
          <p:nvPr>
            <p:ph type="title"/>
          </p:nvPr>
        </p:nvSpPr>
        <p:spPr/>
        <p:txBody>
          <a:bodyPr/>
          <a:lstStyle/>
          <a:p>
            <a:r>
              <a:rPr lang="en-IN" b="1" dirty="0">
                <a:solidFill>
                  <a:srgbClr val="FF0000"/>
                </a:solidFill>
              </a:rPr>
              <a:t>Final Business Insights </a:t>
            </a:r>
            <a:endParaRPr lang="en-IN" dirty="0"/>
          </a:p>
        </p:txBody>
      </p:sp>
      <p:sp>
        <p:nvSpPr>
          <p:cNvPr id="3" name="Text Placeholder 2">
            <a:extLst>
              <a:ext uri="{FF2B5EF4-FFF2-40B4-BE49-F238E27FC236}">
                <a16:creationId xmlns:a16="http://schemas.microsoft.com/office/drawing/2014/main" id="{53B04C05-07F9-804E-A3F3-34CE36706DA4}"/>
              </a:ext>
            </a:extLst>
          </p:cNvPr>
          <p:cNvSpPr>
            <a:spLocks noGrp="1"/>
          </p:cNvSpPr>
          <p:nvPr>
            <p:ph type="body" idx="1"/>
          </p:nvPr>
        </p:nvSpPr>
        <p:spPr/>
        <p:txBody>
          <a:bodyPr/>
          <a:lstStyle/>
          <a:p>
            <a:pPr>
              <a:buSzPct val="100000"/>
            </a:pPr>
            <a:r>
              <a:rPr lang="en-IN" dirty="0"/>
              <a:t>Loyal customers generate the most revenue per person, but there are very few of them.</a:t>
            </a:r>
          </a:p>
          <a:p>
            <a:pPr>
              <a:buSzPct val="100000"/>
            </a:pPr>
            <a:r>
              <a:rPr lang="en-IN" dirty="0"/>
              <a:t>Lost is your biggest segment by count (0.30M) but contributes the least revenue.</a:t>
            </a:r>
          </a:p>
          <a:p>
            <a:pPr>
              <a:buSzPct val="100000"/>
            </a:pPr>
            <a:r>
              <a:rPr lang="en-IN" dirty="0"/>
              <a:t>Transaction activity is remarkably stable day-to-day.</a:t>
            </a:r>
          </a:p>
          <a:p>
            <a:pPr>
              <a:buSzPct val="100000"/>
            </a:pPr>
            <a:r>
              <a:rPr lang="en-IN" dirty="0"/>
              <a:t>Customer base is dominated by young adults</a:t>
            </a:r>
          </a:p>
          <a:p>
            <a:pPr>
              <a:buSzPct val="100000"/>
            </a:pPr>
            <a:r>
              <a:rPr lang="en-IN" dirty="0"/>
              <a:t>Customer Segmentation Improves Decision-Making</a:t>
            </a:r>
          </a:p>
          <a:p>
            <a:pPr>
              <a:buSzPct val="100000"/>
            </a:pPr>
            <a:r>
              <a:rPr lang="en-IN" dirty="0"/>
              <a:t>Mumbai city has the highest customer count.</a:t>
            </a:r>
          </a:p>
        </p:txBody>
      </p:sp>
    </p:spTree>
    <p:extLst>
      <p:ext uri="{BB962C8B-B14F-4D97-AF65-F5344CB8AC3E}">
        <p14:creationId xmlns:p14="http://schemas.microsoft.com/office/powerpoint/2010/main" val="1161512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8F6ED-5D4E-99E0-97AF-DC48778001C9}"/>
              </a:ext>
            </a:extLst>
          </p:cNvPr>
          <p:cNvSpPr>
            <a:spLocks noGrp="1"/>
          </p:cNvSpPr>
          <p:nvPr>
            <p:ph type="title"/>
          </p:nvPr>
        </p:nvSpPr>
        <p:spPr/>
        <p:txBody>
          <a:bodyPr/>
          <a:lstStyle/>
          <a:p>
            <a:r>
              <a:rPr lang="en-IN" b="1" dirty="0">
                <a:solidFill>
                  <a:srgbClr val="FF0000"/>
                </a:solidFill>
              </a:rPr>
              <a:t>Business Recommendations</a:t>
            </a:r>
            <a:endParaRPr lang="en-IN" dirty="0"/>
          </a:p>
        </p:txBody>
      </p:sp>
      <p:sp>
        <p:nvSpPr>
          <p:cNvPr id="3" name="Text Placeholder 2">
            <a:extLst>
              <a:ext uri="{FF2B5EF4-FFF2-40B4-BE49-F238E27FC236}">
                <a16:creationId xmlns:a16="http://schemas.microsoft.com/office/drawing/2014/main" id="{4B455B27-9665-9A36-4D3B-C872F5BA555E}"/>
              </a:ext>
            </a:extLst>
          </p:cNvPr>
          <p:cNvSpPr>
            <a:spLocks noGrp="1"/>
          </p:cNvSpPr>
          <p:nvPr>
            <p:ph type="body" idx="1"/>
          </p:nvPr>
        </p:nvSpPr>
        <p:spPr/>
        <p:txBody>
          <a:bodyPr>
            <a:normAutofit/>
          </a:bodyPr>
          <a:lstStyle/>
          <a:p>
            <a:pPr>
              <a:buSzPct val="100000"/>
              <a:defRPr sz="2200">
                <a:solidFill>
                  <a:srgbClr val="1F2937"/>
                </a:solidFill>
              </a:defRPr>
            </a:pPr>
            <a:r>
              <a:rPr lang="en-US" sz="2400" dirty="0"/>
              <a:t>Reward loyal customers with personalized offers.</a:t>
            </a:r>
          </a:p>
          <a:p>
            <a:pPr>
              <a:buSzPct val="100000"/>
              <a:defRPr sz="2200">
                <a:solidFill>
                  <a:srgbClr val="1F2937"/>
                </a:solidFill>
              </a:defRPr>
            </a:pPr>
            <a:r>
              <a:rPr lang="en-US" sz="2400" dirty="0"/>
              <a:t>Target new customers with onboarding campaigns.</a:t>
            </a:r>
          </a:p>
          <a:p>
            <a:pPr>
              <a:buSzPct val="100000"/>
              <a:defRPr sz="2200">
                <a:solidFill>
                  <a:srgbClr val="1F2937"/>
                </a:solidFill>
              </a:defRPr>
            </a:pPr>
            <a:r>
              <a:rPr lang="en-US" sz="2400" dirty="0"/>
              <a:t>Re-engage lost customers using promotional campaigns.</a:t>
            </a:r>
          </a:p>
          <a:p>
            <a:pPr>
              <a:buSzPct val="100000"/>
              <a:defRPr sz="2200">
                <a:solidFill>
                  <a:srgbClr val="1F2937"/>
                </a:solidFill>
              </a:defRPr>
            </a:pPr>
            <a:r>
              <a:rPr lang="en-US" sz="2400" dirty="0"/>
              <a:t>Strengthen monitoring for high-risk customers.</a:t>
            </a:r>
          </a:p>
          <a:p>
            <a:pPr>
              <a:buSzPct val="100000"/>
              <a:defRPr sz="2200">
                <a:solidFill>
                  <a:srgbClr val="1F2937"/>
                </a:solidFill>
              </a:defRPr>
            </a:pPr>
            <a:r>
              <a:rPr lang="en-US" sz="2400" dirty="0"/>
              <a:t>Use segmentation for targeted marketing.</a:t>
            </a:r>
          </a:p>
          <a:p>
            <a:pPr>
              <a:buSzPct val="100000"/>
            </a:pPr>
            <a:endParaRPr lang="en-IN" sz="2400" dirty="0"/>
          </a:p>
        </p:txBody>
      </p:sp>
    </p:spTree>
    <p:extLst>
      <p:ext uri="{BB962C8B-B14F-4D97-AF65-F5344CB8AC3E}">
        <p14:creationId xmlns:p14="http://schemas.microsoft.com/office/powerpoint/2010/main" val="1219177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BA61-6C71-AA95-6DAF-753784A684A9}"/>
              </a:ext>
            </a:extLst>
          </p:cNvPr>
          <p:cNvSpPr>
            <a:spLocks noGrp="1"/>
          </p:cNvSpPr>
          <p:nvPr>
            <p:ph type="title"/>
          </p:nvPr>
        </p:nvSpPr>
        <p:spPr/>
        <p:txBody>
          <a:bodyPr/>
          <a:lstStyle/>
          <a:p>
            <a:r>
              <a:rPr lang="en-US" b="1" dirty="0">
                <a:solidFill>
                  <a:srgbClr val="FF0000"/>
                </a:solidFill>
              </a:rPr>
              <a:t>Conclusion</a:t>
            </a:r>
            <a:endParaRPr lang="en-IN" dirty="0"/>
          </a:p>
        </p:txBody>
      </p:sp>
      <p:sp>
        <p:nvSpPr>
          <p:cNvPr id="3" name="Text Placeholder 2">
            <a:extLst>
              <a:ext uri="{FF2B5EF4-FFF2-40B4-BE49-F238E27FC236}">
                <a16:creationId xmlns:a16="http://schemas.microsoft.com/office/drawing/2014/main" id="{F852B40F-6609-3EC1-64D1-7C86222BBA5F}"/>
              </a:ext>
            </a:extLst>
          </p:cNvPr>
          <p:cNvSpPr>
            <a:spLocks noGrp="1"/>
          </p:cNvSpPr>
          <p:nvPr>
            <p:ph type="body" idx="1"/>
          </p:nvPr>
        </p:nvSpPr>
        <p:spPr/>
        <p:txBody>
          <a:bodyPr>
            <a:normAutofit/>
          </a:bodyPr>
          <a:lstStyle/>
          <a:p>
            <a:pPr>
              <a:buSzPct val="100000"/>
            </a:pPr>
            <a:r>
              <a:rPr lang="en-IN" sz="2400" dirty="0"/>
              <a:t>Customer segmentation helps banks better understand different customer groups based on their demographics and transaction behaviour. </a:t>
            </a:r>
          </a:p>
          <a:p>
            <a:pPr>
              <a:buSzPct val="100000"/>
            </a:pPr>
            <a:r>
              <a:rPr lang="en-IN" sz="2400" dirty="0"/>
              <a:t>The Power BI dashboard converts raw banking data into meaningful insights through interactive visualizations and KPIs. </a:t>
            </a:r>
          </a:p>
          <a:p>
            <a:pPr>
              <a:buSzPct val="100000"/>
            </a:pPr>
            <a:r>
              <a:rPr lang="en-IN" sz="2400" dirty="0"/>
              <a:t>Data analysis helps identify high-value customers, inactive customers, and potential risk segments, enabling targeted business strategies. </a:t>
            </a:r>
          </a:p>
          <a:p>
            <a:pPr>
              <a:buSzPct val="100000"/>
            </a:pPr>
            <a:r>
              <a:rPr lang="en-IN" sz="2400" dirty="0"/>
              <a:t>Interactive dashboards support faster data-driven decision-making and improve operational efficiency. </a:t>
            </a:r>
          </a:p>
          <a:p>
            <a:pPr>
              <a:buSzPct val="100000"/>
            </a:pPr>
            <a:r>
              <a:rPr lang="en-IN" sz="2400" dirty="0"/>
              <a:t>The insights gained from this project can help banks enhance customer satisfaction, improve retention, optimize marketing efforts, and drive business growth. </a:t>
            </a:r>
          </a:p>
        </p:txBody>
      </p:sp>
    </p:spTree>
    <p:extLst>
      <p:ext uri="{BB962C8B-B14F-4D97-AF65-F5344CB8AC3E}">
        <p14:creationId xmlns:p14="http://schemas.microsoft.com/office/powerpoint/2010/main" val="1022695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B9FF42-FB82-164B-7FAB-DF2B73026AB2}"/>
              </a:ext>
            </a:extLst>
          </p:cNvPr>
          <p:cNvSpPr txBox="1"/>
          <p:nvPr/>
        </p:nvSpPr>
        <p:spPr>
          <a:xfrm>
            <a:off x="4841490" y="2310063"/>
            <a:ext cx="2509020" cy="1631216"/>
          </a:xfrm>
          <a:prstGeom prst="rect">
            <a:avLst/>
          </a:prstGeom>
          <a:noFill/>
        </p:spPr>
        <p:txBody>
          <a:bodyPr wrap="none" rtlCol="0">
            <a:spAutoFit/>
          </a:bodyPr>
          <a:lstStyle/>
          <a:p>
            <a:pPr marL="114300" indent="0" algn="ctr">
              <a:buNone/>
            </a:pPr>
            <a:r>
              <a:rPr lang="en-IN" sz="9600" dirty="0"/>
              <a:t>Q/A</a:t>
            </a:r>
          </a:p>
        </p:txBody>
      </p:sp>
    </p:spTree>
    <p:extLst>
      <p:ext uri="{BB962C8B-B14F-4D97-AF65-F5344CB8AC3E}">
        <p14:creationId xmlns:p14="http://schemas.microsoft.com/office/powerpoint/2010/main" val="4002272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TotalTime>
  <Words>648</Words>
  <Application>Microsoft Office PowerPoint</Application>
  <PresentationFormat>Widescreen</PresentationFormat>
  <Paragraphs>72</Paragraphs>
  <Slides>20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Lato Black</vt:lpstr>
      <vt:lpstr>Libre Baskerville</vt:lpstr>
      <vt:lpstr>Arial</vt:lpstr>
      <vt:lpstr>Office Theme</vt:lpstr>
      <vt:lpstr>PowerPoint Presentation</vt:lpstr>
      <vt:lpstr>PowerPoint Presentation</vt:lpstr>
      <vt:lpstr>Agenda  </vt:lpstr>
      <vt:lpstr>Business Problem</vt:lpstr>
      <vt:lpstr>Problem Statement</vt:lpstr>
      <vt:lpstr>Introduction</vt:lpstr>
      <vt:lpstr>Objective</vt:lpstr>
      <vt:lpstr>Table Overview</vt:lpstr>
      <vt:lpstr>Column Description</vt:lpstr>
      <vt:lpstr>Data Cleaning</vt:lpstr>
      <vt:lpstr>Dashboard Overview</vt:lpstr>
      <vt:lpstr>PowerPoint Presentation</vt:lpstr>
      <vt:lpstr>PowerPoint Presentation</vt:lpstr>
      <vt:lpstr>PowerPoint Presentation</vt:lpstr>
      <vt:lpstr>PowerPoint Presentation</vt:lpstr>
      <vt:lpstr>Final Business Insights </vt:lpstr>
      <vt:lpstr>Business Recommendations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umesh rachanna</cp:lastModifiedBy>
  <cp:revision>18</cp:revision>
  <dcterms:created xsi:type="dcterms:W3CDTF">2021-02-16T05:19:01Z</dcterms:created>
  <dcterms:modified xsi:type="dcterms:W3CDTF">2026-07-11T09:52:14Z</dcterms:modified>
</cp:coreProperties>
</file>